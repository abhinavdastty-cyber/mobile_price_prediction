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</p:sldIdLst>
  <p:sldSz cx="12192000" cy="6858000"/>
  <p:notesSz cx="6858000" cy="9144000"/>
  <p:embeddedFontLst>
    <p:embeddedFont>
      <p:font typeface="Aptos Narrow" panose="020B0004020202020204" pitchFamily="34" charset="0"/>
      <p:regular r:id="rId19"/>
      <p:bold r:id="rId20"/>
      <p:italic r:id="rId21"/>
      <p:boldItalic r:id="rId22"/>
    </p:embeddedFont>
    <p:embeddedFont>
      <p:font typeface="Bell MT" panose="02020503060305020303" pitchFamily="18" charset="0"/>
      <p:regular r:id="rId23"/>
      <p:bold r:id="rId24"/>
      <p:italic r:id="rId25"/>
    </p:embeddedFont>
    <p:embeddedFont>
      <p:font typeface="Inter"/>
      <p:bold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684365"/>
            <a:ext cx="6096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2000" y="2135534"/>
            <a:ext cx="11430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FLIPKART DATA SCIENCE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478434"/>
            <a:ext cx="8601075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8FAFC"/>
                </a:solidFill>
                <a:latin typeface="Inter"/>
              </a:rPr>
              <a:t>Mobile Phone Price Prediction &amp; Feature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846165"/>
            <a:ext cx="6191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4A3B8"/>
                </a:solidFill>
                <a:latin typeface="Inter"/>
              </a:rPr>
              <a:t>End-to-end machine learning pipeline, feature importance extraction, and strategic market recommendations.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8E9303-3367-4628-E30F-52CC2E259A67}"/>
              </a:ext>
            </a:extLst>
          </p:cNvPr>
          <p:cNvSpPr txBox="1"/>
          <p:nvPr/>
        </p:nvSpPr>
        <p:spPr>
          <a:xfrm>
            <a:off x="8610600" y="5856514"/>
            <a:ext cx="2688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chemeClr val="bg1">
                    <a:lumMod val="75000"/>
                  </a:schemeClr>
                </a:solidFill>
              </a:rPr>
              <a:t>NextHikes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 IT Solutions</a:t>
            </a:r>
            <a:endParaRPr lang="en-IN" b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67050"/>
            <a:ext cx="3505200" cy="1714500"/>
          </a:xfrm>
          <a:prstGeom prst="roundRect">
            <a:avLst>
              <a:gd name="adj" fmla="val 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971800"/>
            <a:ext cx="35052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67050"/>
            <a:ext cx="3505200" cy="1714500"/>
          </a:xfrm>
          <a:prstGeom prst="roundRect">
            <a:avLst>
              <a:gd name="adj" fmla="val 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371850"/>
            <a:ext cx="238125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3276600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3371850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Executive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90950"/>
            <a:ext cx="38004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Data Preprocessing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95750"/>
            <a:ext cx="29908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Cleaned numeric values, median imputation, and IQR outlier clipping.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8200" y="3695700"/>
            <a:ext cx="38004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Feature Importance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8200" y="4000500"/>
            <a:ext cx="29908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Random Forest Regressor identified RAM &amp; Memory as primary price drivers.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0" y="3790950"/>
            <a:ext cx="38004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Predictive Modeling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0" y="4095750"/>
            <a:ext cx="29908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Linear Regression baseline evaluated on R² Score, MAE, and RMSE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05500" y="2965102"/>
            <a:ext cx="5676900" cy="1918245"/>
          </a:xfrm>
          <a:prstGeom prst="roundRect">
            <a:avLst>
              <a:gd name="adj" fmla="val 794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3346102"/>
            <a:ext cx="59055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Inter"/>
              </a:rPr>
              <a:t>CORE VALUE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3622327"/>
            <a:ext cx="5010150" cy="880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Bridging raw e-commerce specification data with machine-learned market intelligence to optimize revenue strategies.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781300"/>
            <a:ext cx="5010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Clean &amp; Structure: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Standardize messy e-commerce phone specifications.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409950"/>
            <a:ext cx="5010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Extract Key Drivers: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Identify hardware features heavily influencing market price.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038600"/>
            <a:ext cx="5010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Build Regressor: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Train model to accurately predict retail phone prices.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667250"/>
            <a:ext cx="5010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Guide Strategy: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Provide actionable pricing and marketing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67000"/>
            <a:ext cx="5334000" cy="251460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819400"/>
            <a:ext cx="5334000" cy="2209800"/>
          </a:xfrm>
          <a:prstGeom prst="roundRect">
            <a:avLst>
              <a:gd name="adj" fmla="val 517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Dataset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62007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Inter"/>
              </a:rPr>
              <a:t>Numeric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3200" y="3124200"/>
            <a:ext cx="5638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Inter"/>
              </a:rPr>
              <a:t>Categorical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52800"/>
            <a:ext cx="5905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Inter"/>
              </a:rPr>
              <a:t>Memory: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Internal storage capacity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5905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Inter"/>
              </a:rPr>
              <a:t>RAM: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Hardware memory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62400"/>
            <a:ext cx="5905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Inter"/>
              </a:rPr>
              <a:t>Battery_: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Capacity rating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67200"/>
            <a:ext cx="5905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Inter"/>
              </a:rPr>
              <a:t>Cameras: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Rear &amp; Front MP specs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5905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Inter"/>
              </a:rPr>
              <a:t>Price: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Target prediction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3505200"/>
            <a:ext cx="56388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Inter"/>
              </a:rPr>
              <a:t>Model: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Identifier tag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3810000"/>
            <a:ext cx="56388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Inter"/>
              </a:rPr>
              <a:t>Colour: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Aesthetic variant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0" y="4114800"/>
            <a:ext cx="56388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Inter"/>
              </a:rPr>
              <a:t>AI Lens: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Camera tech flag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0" y="4419600"/>
            <a:ext cx="56388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Inter"/>
              </a:rPr>
              <a:t>Processor_: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Chipset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300412"/>
            <a:ext cx="3505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300412"/>
            <a:ext cx="3505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300412"/>
            <a:ext cx="3505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Data Cleaning &amp; Target Normalization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05212"/>
            <a:ext cx="38004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1. Target Standardization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1437"/>
            <a:ext cx="29908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Renamed legacy column Prize to Price for schema consistency.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8200" y="3605212"/>
            <a:ext cx="38004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2. Regex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8200" y="3881437"/>
            <a:ext cx="29908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Stripped currency symbols &amp; text formats into clean float values.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0" y="3605212"/>
            <a:ext cx="38004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3. Median Imputation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0" y="3881437"/>
            <a:ext cx="29908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Filled missing numeric entries with robust median values.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0" y="3071812"/>
            <a:ext cx="5638800" cy="1704975"/>
          </a:xfrm>
          <a:prstGeom prst="roundRect">
            <a:avLst>
              <a:gd name="adj" fmla="val 893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IQR Outlier Treatment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152775"/>
            <a:ext cx="5048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Inter"/>
              </a:rPr>
              <a:t>Applied Interquartile Range (IQR) clipping to prevent extreme pricing skew from distorting regressor coefficients.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3414712"/>
            <a:ext cx="59055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Inter"/>
              </a:rPr>
              <a:t>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652837"/>
            <a:ext cx="590550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Inter"/>
              </a:rPr>
              <a:t>Zero Data Loss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4052887"/>
            <a:ext cx="5048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Preserved sample size by clipping extreme values instead of dropping rows.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781425"/>
            <a:ext cx="6191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75569"/>
                </a:solidFill>
                <a:latin typeface="Inter"/>
              </a:rPr>
              <a:t>Formula: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IQR = Q3 - 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086225"/>
            <a:ext cx="6191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75569"/>
                </a:solidFill>
                <a:latin typeface="Inter"/>
              </a:rPr>
              <a:t>Bounds: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[Q1 - 1.5×IQR , Q3 + 1.5×IQR]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391025"/>
            <a:ext cx="6191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75569"/>
                </a:solidFill>
                <a:latin typeface="Inter"/>
              </a:rPr>
              <a:t>Clipped Features: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Price, RAM, Height, Battery_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57550"/>
            <a:ext cx="5334000" cy="13335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3257550"/>
            <a:ext cx="5334000" cy="13335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Categorical Encoding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2350"/>
            <a:ext cx="62007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Mode Imputation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05250"/>
            <a:ext cx="48196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Replaced missing categorical tags in Colour, AI Lens, and Processor_ with most frequent category.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200" y="3562350"/>
            <a:ext cx="5638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One-Hot Encoding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0" y="3905250"/>
            <a:ext cx="48196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Converted textual features into binary indicator variables using pd.get_dummies(drop_first=True) to avoid multicollinearity.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57825" y="2714625"/>
            <a:ext cx="12763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Inter"/>
              </a:rPr>
              <a:t>SECTION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9149" y="3028950"/>
            <a:ext cx="9613701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8FAFC"/>
                </a:solidFill>
                <a:latin typeface="Inter"/>
              </a:rPr>
              <a:t>Feature Importance &amp;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1312" y="3743325"/>
            <a:ext cx="64293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94A3B8"/>
                </a:solidFill>
                <a:latin typeface="Inter"/>
              </a:rPr>
              <a:t>Quantifying feature contribution using Random Forest Regressor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57550"/>
            <a:ext cx="5334000" cy="13335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3257550"/>
            <a:ext cx="5334000" cy="13335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ANALYSIS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Random Forest Feature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2350"/>
            <a:ext cx="62007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Gini Impurity / MDI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05250"/>
            <a:ext cx="48196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Calculates total reduction of variance brought by each feature across ensemble trees.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200" y="3562350"/>
            <a:ext cx="5638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Non-Linear 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0" y="3905250"/>
            <a:ext cx="48196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Captures complex interactions between internal storage, RAM, and price points seamlessly.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49380" y="3152775"/>
            <a:ext cx="4633019" cy="1466850"/>
          </a:xfrm>
          <a:prstGeom prst="roundRect">
            <a:avLst>
              <a:gd name="adj" fmla="val 77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200400"/>
            <a:ext cx="603498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695700"/>
            <a:ext cx="603498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191000"/>
            <a:ext cx="603498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686300"/>
            <a:ext cx="603498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9600" y="3200400"/>
            <a:ext cx="5431482" cy="1143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9600" y="3695700"/>
            <a:ext cx="4948683" cy="1143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09600" y="4191000"/>
            <a:ext cx="3319164" cy="1143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9600" y="4686300"/>
            <a:ext cx="2112168" cy="1143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RANKINGS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Top Feature Importance Drivers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54180" y="3457575"/>
            <a:ext cx="493781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Key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4180" y="3771900"/>
            <a:ext cx="4118669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Core performance hardware (RAM &amp; Memory) dominates pricing power far more than superficial branding or color options.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2971800"/>
            <a:ext cx="13239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RAM Capacity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8280" y="2971800"/>
            <a:ext cx="11620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High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3467100"/>
            <a:ext cx="165496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Memory (Storage)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8280" y="3467100"/>
            <a:ext cx="11620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High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3962400"/>
            <a:ext cx="163115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Processor Variant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11055" y="3962400"/>
            <a:ext cx="191690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Medium-High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4457700"/>
            <a:ext cx="21431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Battery / Camera Specs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6330" y="4457700"/>
            <a:ext cx="15478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Moderate Impact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295400"/>
            <a:ext cx="10972800" cy="5105400"/>
          </a:xfrm>
          <a:prstGeom prst="roundRect">
            <a:avLst>
              <a:gd name="adj" fmla="val 223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209800" y="3162300"/>
            <a:ext cx="9067800" cy="228600"/>
          </a:xfrm>
          <a:prstGeom prst="roundRect">
            <a:avLst>
              <a:gd name="adj" fmla="val 16666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209800" y="3543300"/>
            <a:ext cx="7254180" cy="228600"/>
          </a:xfrm>
          <a:prstGeom prst="roundRect">
            <a:avLst>
              <a:gd name="adj" fmla="val 16666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209800" y="3924300"/>
            <a:ext cx="4663380" cy="228600"/>
          </a:xfrm>
          <a:prstGeom prst="roundRect">
            <a:avLst>
              <a:gd name="adj" fmla="val 16666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209800" y="4305300"/>
            <a:ext cx="3108870" cy="228600"/>
          </a:xfrm>
          <a:prstGeom prst="roundRect">
            <a:avLst>
              <a:gd name="adj" fmla="val 16666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VISUALIZATION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Matplotlib Importance Chart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95637"/>
            <a:ext cx="1428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76637"/>
            <a:ext cx="1428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57637"/>
            <a:ext cx="1428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Processor_v1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38637"/>
            <a:ext cx="1428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Battery_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57512"/>
            <a:ext cx="5334000" cy="1933575"/>
          </a:xfrm>
          <a:prstGeom prst="roundRect">
            <a:avLst>
              <a:gd name="adj" fmla="val 591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957512"/>
            <a:ext cx="5334000" cy="1933575"/>
          </a:xfrm>
          <a:prstGeom prst="roundRect">
            <a:avLst>
              <a:gd name="adj" fmla="val 591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Train-Test Split &amp;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475" y="3300412"/>
            <a:ext cx="5810250" cy="733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0284C7"/>
                </a:solidFill>
                <a:latin typeface="Inter"/>
              </a:rPr>
              <a:t>80%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1475" y="4148137"/>
            <a:ext cx="5810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Training 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1475" y="4386262"/>
            <a:ext cx="5810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Learns weight coefficients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0275" y="3300412"/>
            <a:ext cx="5810250" cy="733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0F172A"/>
                </a:solidFill>
                <a:latin typeface="Inter"/>
              </a:rPr>
              <a:t>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0275" y="4148137"/>
            <a:ext cx="5810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Testing 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0275" y="4386262"/>
            <a:ext cx="5810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Validates unseen predictions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300412"/>
            <a:ext cx="3505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300412"/>
            <a:ext cx="3505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300412"/>
            <a:ext cx="3505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Model Evaluation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05212"/>
            <a:ext cx="38004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R²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1437"/>
            <a:ext cx="29908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Measures total price variance explained by specifications.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8200" y="3605212"/>
            <a:ext cx="38004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MAE (₹)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8200" y="3881437"/>
            <a:ext cx="29908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Average absolute error magnitude in currency terms.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0" y="3605212"/>
            <a:ext cx="38004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RMSE (₹)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0" y="3881437"/>
            <a:ext cx="29908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Penalizes larger pricing prediction errors more severely.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57825" y="2814637"/>
            <a:ext cx="12763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Inter"/>
              </a:rPr>
              <a:t>SECTION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57970" y="3128962"/>
            <a:ext cx="8476059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8FAFC"/>
                </a:solidFill>
                <a:latin typeface="Inter"/>
              </a:rPr>
              <a:t>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3484" y="3843337"/>
            <a:ext cx="59650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94A3B8"/>
                </a:solidFill>
                <a:latin typeface="Inter"/>
              </a:rPr>
              <a:t>Translating machine learning insights into business impact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57550"/>
            <a:ext cx="5334000" cy="13335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3257550"/>
            <a:ext cx="5334000" cy="13335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PRICING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Tiered Hardware 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2350"/>
            <a:ext cx="62007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Tie Price to RAM/Storage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05250"/>
            <a:ext cx="48196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Align pricing tiers directly with hardware jumps where consumer valuation is highest.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200" y="3562350"/>
            <a:ext cx="5638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Avoid Aesthetic Over-Pricing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0" y="3905250"/>
            <a:ext cx="48196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Keep color variants standardly priced as cosmetics yield minimal feature importance.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57550"/>
            <a:ext cx="5334000" cy="13335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3257550"/>
            <a:ext cx="5334000" cy="13335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GO-TO-MARKET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Marketing &amp; Dynamic Pricing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2350"/>
            <a:ext cx="62007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Spec-Focused Marketing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05250"/>
            <a:ext cx="48196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Lead promotional campaigns with RAM, storage capacity, and processor speed.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200" y="3562350"/>
            <a:ext cx="5638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Automated Price Benchmarking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0" y="3905250"/>
            <a:ext cx="48196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Deploy prediction pipeline to auto-recommend competitive retail prices for new models.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BC49A5-C149-398F-727B-BFDE09EB80A6}"/>
              </a:ext>
            </a:extLst>
          </p:cNvPr>
          <p:cNvSpPr txBox="1"/>
          <p:nvPr/>
        </p:nvSpPr>
        <p:spPr>
          <a:xfrm>
            <a:off x="3799114" y="1055914"/>
            <a:ext cx="46917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</a:rPr>
              <a:t>PROJECT PRESENTATION CONCLUSION</a:t>
            </a:r>
            <a:endParaRPr lang="en-IN" sz="2000" b="1" dirty="0">
              <a:solidFill>
                <a:srgbClr val="00B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69D2BB-2F11-662B-D638-C57D2EE27D9A}"/>
              </a:ext>
            </a:extLst>
          </p:cNvPr>
          <p:cNvSpPr txBox="1"/>
          <p:nvPr/>
        </p:nvSpPr>
        <p:spPr>
          <a:xfrm>
            <a:off x="4321628" y="1456024"/>
            <a:ext cx="38970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Bell MT" panose="02020503060305020303" pitchFamily="18" charset="0"/>
              </a:rPr>
              <a:t>THANK YOU</a:t>
            </a:r>
            <a:endParaRPr lang="en-IN" sz="4800" dirty="0">
              <a:latin typeface="Bell MT" panose="020205030603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C040F7-12FC-523F-EA07-7025E3F337EA}"/>
              </a:ext>
            </a:extLst>
          </p:cNvPr>
          <p:cNvSpPr txBox="1"/>
          <p:nvPr/>
        </p:nvSpPr>
        <p:spPr>
          <a:xfrm>
            <a:off x="4180114" y="2209800"/>
            <a:ext cx="4038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ptos Narrow" panose="020B0004020202020204" pitchFamily="34" charset="0"/>
              </a:rPr>
              <a:t>I sincerely appreciate your time, valuable guidance, and academic mentorship throughout this data analysis project. I look forward to your valuable feedback and recommendations.</a:t>
            </a:r>
          </a:p>
          <a:p>
            <a:pPr algn="ctr"/>
            <a:endParaRPr lang="en-IN" dirty="0">
              <a:latin typeface="Aptos Narrow" panose="020B00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A83017B-0214-B3C5-3C50-B6A0647CF9F3}"/>
              </a:ext>
            </a:extLst>
          </p:cNvPr>
          <p:cNvCxnSpPr/>
          <p:nvPr/>
        </p:nvCxnSpPr>
        <p:spPr>
          <a:xfrm>
            <a:off x="5040085" y="4103914"/>
            <a:ext cx="211182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8CE19A2-C76A-56B1-17AA-40FE4C72E689}"/>
              </a:ext>
            </a:extLst>
          </p:cNvPr>
          <p:cNvSpPr txBox="1"/>
          <p:nvPr/>
        </p:nvSpPr>
        <p:spPr>
          <a:xfrm>
            <a:off x="892629" y="5159829"/>
            <a:ext cx="18179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PRESENTER</a:t>
            </a:r>
          </a:p>
          <a:p>
            <a:endParaRPr lang="en-US" dirty="0"/>
          </a:p>
          <a:p>
            <a:r>
              <a:rPr lang="en-IN" b="1" dirty="0"/>
              <a:t>Abhinab Kalita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CFF09C-0C96-DC3D-19C0-87EDA47D3B5B}"/>
              </a:ext>
            </a:extLst>
          </p:cNvPr>
          <p:cNvSpPr txBox="1"/>
          <p:nvPr/>
        </p:nvSpPr>
        <p:spPr>
          <a:xfrm>
            <a:off x="8218714" y="5943600"/>
            <a:ext cx="3603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chemeClr val="bg1">
                    <a:lumMod val="75000"/>
                  </a:schemeClr>
                </a:solidFill>
              </a:rPr>
              <a:t>NextHikes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 IT Solutions</a:t>
            </a:r>
            <a:endParaRPr lang="en-IN" b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2641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650</Words>
  <Application>Microsoft Office PowerPoint</Application>
  <PresentationFormat>Widescreen</PresentationFormat>
  <Paragraphs>121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 Narrow</vt:lpstr>
      <vt:lpstr>Arial</vt:lpstr>
      <vt:lpstr>Calibri</vt:lpstr>
      <vt:lpstr>Bell MT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Pranab Jyoti Kalita</cp:lastModifiedBy>
  <cp:revision>2</cp:revision>
  <dcterms:created xsi:type="dcterms:W3CDTF">2013-01-27T09:14:16Z</dcterms:created>
  <dcterms:modified xsi:type="dcterms:W3CDTF">2026-10-27T16:21:25Z</dcterms:modified>
  <cp:category/>
</cp:coreProperties>
</file>